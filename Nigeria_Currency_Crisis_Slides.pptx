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8751">
              <a:alpha val="40000"/>
            </a:srgbClr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2560320" cy="2560320"/>
          </a:xfrm>
          <a:prstGeom prst="ellipse">
            <a:avLst/>
          </a:prstGeom>
          <a:solidFill>
            <a:srgbClr val="FFD700">
              <a:alpha val="3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Crisis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Warning Model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Economy  |  Random Forest Ensemble Classifier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44074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Market Pressure  ·  Feature Importance  ·  SHAP Analysis  ·  Policy Signals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Research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7764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547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has experienced 14 currency crisis years (1990–2023) driven by oil dependence and FX mismanagement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Naira lost over 99% of its value vs USD since 1990 (₦8 → ₦900 in 2023)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market premiums regularly exceed 50%, signalling deep FX market dysfunction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policy tools (CBN reserves defence, capital controls) have failed repeatedly without a data-driven 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3547872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7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Exchange Market Pressure (EMP) index as the binary crisis target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macroeconomic and external sector predictors of currency crisis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a Random Forest EWS classifier (1990–2023)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SHAP-based feature importance for CBN/policymaker interpretation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real-time EWS probability scores and policy alert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Algorithm: Random Forest  (Bootstrap Aggregating Ensemble)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2D374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 for Currency Crisis EWS?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small samples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N=34; bootstrap resampling creates diversity without more data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distributional assumptions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FX data is non-normal; RF is non-parametric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non-linearity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Oil-FX-inflation feedback loops are highly non-linear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resists overfitting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500+ diverse trees reduces variance dramatically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Decrease Impurity (MDI) + SHAP for interpretability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EWS literature  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(2019), Peltonen (2006): RF outperforms probit/logit in crisis prediction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solidFill>
            <a:srgbClr val="2D3748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Random Forest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Bootstrap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 random samples with replacement from training data (bagging)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Random subspace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randomly select m = √p features (decorrelates trees)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Grow deep trees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grown to full depth (min_samples_leaf=1) without pruning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Aggregate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ŷ(x) = (1/B) Σ h_b(x)  — majority vote (classification)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OOB validation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samples (~37%) give unbiased error estimate for free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Feature importance  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MDI: avg. Gini impurity reduction per feature across all B trees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170432"/>
          </a:xfrm>
          <a:prstGeom prst="rect">
            <a:avLst/>
          </a:prstGeom>
          <a:solidFill>
            <a:srgbClr val="0087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527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Obs.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(1990–2023)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170432"/>
          </a:xfrm>
          <a:prstGeom prst="rect">
            <a:avLst/>
          </a:prstGeom>
          <a:solidFill>
            <a:srgbClr val="0087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50592" y="1527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170432"/>
          </a:xfrm>
          <a:prstGeom prst="rect">
            <a:avLst/>
          </a:prstGeom>
          <a:solidFill>
            <a:srgbClr val="0087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26864" y="1527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Years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170432"/>
          </a:xfrm>
          <a:prstGeom prst="rect">
            <a:avLst/>
          </a:prstGeom>
          <a:solidFill>
            <a:srgbClr val="0087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03136" y="1527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(59%)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12848"/>
          <a:ext cx="8595360" cy="2697480"/>
        </p:xfrm>
        <a:graphic>
          <a:graphicData uri="http://schemas.openxmlformats.org/drawingml/2006/table">
            <a:tbl>
              <a:tblPr/>
              <a:tblGrid>
                <a:gridCol w="2651760"/>
                <a:gridCol w="1691640"/>
                <a:gridCol w="425196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Relationship with Currency Crisis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Rate Depreciation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Rapid depreciation is a direct crisis signal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Market Premium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Premium → ↑ crisis risk (market expects devaluation)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Reserves (USD Bn)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Buffer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Reserves → ↑ crisis probability (less defence capacity)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Change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Buffer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depletion is a leading indicator of crisis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Market Pressure Index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Proxy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crisis signal — composite of depreciation + reserve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Account Balance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CAB deficit → ↑ FX demand pressure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Revenue (% Total Revenue)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Dependence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Oil dependence → ↑ vulnerability to oil price shocks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Price (USD/Barrel)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Shock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Oil price → ↓ FX inflows → ↑ crisis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Growth Rate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Economy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Growth → ↑ crisis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Rate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Inflation erodes real exchange rate; ↑ crisis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Money Supply Growth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M2 growth → currency oversupply → ↑ crisis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T-Bill Rate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real rates signal monetary imbalance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Debt (% GDP)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External debt → ↑ FX demand for debt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of Trade Change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ToT → ↓ export competitiveness → ↑ crisis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ML Workflow — Currency Crisis Early Warning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170432" cy="3493008"/>
          </a:xfrm>
          <a:prstGeom prst="rect">
            <a:avLst/>
          </a:prstGeom>
          <a:solidFill>
            <a:srgbClr val="0066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716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CBN Statistical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Bulletin, IMF IFS,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OPEC 1990–2023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0" y="914400"/>
            <a:ext cx="1170432" cy="3493008"/>
          </a:xfrm>
          <a:prstGeom prst="rect">
            <a:avLst/>
          </a:prstGeom>
          <a:solidFill>
            <a:srgbClr val="00875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index construction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checks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914400"/>
            <a:ext cx="1170432" cy="3493008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 Index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Target Label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= w₁·ΔE/E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w₂·ΔR/R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= EMP &gt;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+ 1.5σ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0" y="914400"/>
            <a:ext cx="1170432" cy="3493008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(t-1)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vulnerability 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Reserves/import cover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74920" y="914400"/>
            <a:ext cx="1170432" cy="3493008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492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/ Optuna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depth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max_features, λ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09360" y="914400"/>
            <a:ext cx="1170432" cy="3493008"/>
          </a:xfrm>
          <a:prstGeom prst="rect">
            <a:avLst/>
          </a:prstGeom>
          <a:solidFill>
            <a:srgbClr val="FF8F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F1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dep. plots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914400"/>
            <a:ext cx="1170432" cy="3493008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98755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43800" y="1389888"/>
            <a:ext cx="11704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43800" y="2066544"/>
            <a:ext cx="117043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score 0–1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CBN dashboard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brief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44988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Walk-forward (time-aware) CV is mandatory — Nigeria’s FX data is temporally auto-correlated; standard k-fold causes severe data leakage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Framework &amp; Comparative Results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3767328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4264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 of crisis vs. no-crisis;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0.85 for EWS validity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482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mean; balances precision &amp; recall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given 41% class imbalance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(Sensitivity)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28620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false negatives — undetected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have catastrophic policy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2918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3483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false alarms — erodes credibility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EWS system at CBN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347472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9136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OOB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4105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Forest’s in-built unbiased estimate;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OOB ≥ 0.80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11480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914400"/>
            <a:ext cx="64008" cy="37673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(Walk-Forward CV)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417320"/>
          <a:ext cx="3749040" cy="2606040"/>
        </p:xfrm>
        <a:graphic>
          <a:graphicData uri="http://schemas.openxmlformats.org/drawingml/2006/table">
            <a:tbl>
              <a:tblPr/>
              <a:tblGrid>
                <a:gridCol w="1554480"/>
                <a:gridCol w="749808"/>
                <a:gridCol w="749808"/>
                <a:gridCol w="74980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7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7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7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7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Probit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7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89204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Estimates: walk-forward 5-fold CV, class_weight='balanced'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≈ 1.4:1 (no-crisis:crisis)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 &amp; Central Bank Policy Interpretation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 Importance (Mean |SHAP Value|)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2984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Reserves Change (%)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1691640" y="1353312"/>
            <a:ext cx="3867912" cy="2194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05272" y="1353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6687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Market Premium (%)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691640" y="1723644"/>
            <a:ext cx="3662172" cy="21945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9532" y="17236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039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Depreciation (%)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691640" y="2093976"/>
            <a:ext cx="3374136" cy="219456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20939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24094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 (USD/Barrel)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691640" y="2464308"/>
            <a:ext cx="3127248" cy="21945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24643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27797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Balance (% GDP)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691640" y="2834640"/>
            <a:ext cx="2798064" cy="21945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8346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31501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Revenue (% Total Revenue)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691640" y="3204972"/>
            <a:ext cx="2510028" cy="219456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7388" y="32049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3520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Money Supply Growth (%)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691640" y="3575304"/>
            <a:ext cx="2263140" cy="219456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0500" y="35753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38907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Rate (%)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691640" y="3945636"/>
            <a:ext cx="1975104" cy="21945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39456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42611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Debt (% GDP)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691640" y="4315968"/>
            <a:ext cx="1687068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4428" y="43159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49240" y="914400"/>
            <a:ext cx="3520440" cy="3931920"/>
          </a:xfrm>
          <a:prstGeom prst="rect">
            <a:avLst/>
          </a:prstGeom>
          <a:solidFill>
            <a:srgbClr val="2D374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CBN Policy Signals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32120" y="1453896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FX reserves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1645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≥ 6 months import cover; reserves are the #1 crisis predictor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32120" y="2112264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2112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52160" y="2075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exchange markets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52160" y="23042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premium &gt;20% is a red-flag signal; eliminate multiple windows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32120" y="2770632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770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2160" y="2734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revenue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2160" y="2962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revenue &gt;70% of total revenue amplifies crisis vulnerability 3x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32120" y="3429000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52160" y="33924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monetary policy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52160" y="36210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growth &gt;25% without real GDP growth signals monetary crisis risk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32120" y="4087368"/>
            <a:ext cx="219456" cy="2194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52160" y="4050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EWS alert threshold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42793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probability &gt;0.55 triggers CBN emergency FX reserve review protocol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926080"/>
            <a:ext cx="5029200" cy="5029200"/>
          </a:xfrm>
          <a:prstGeom prst="ellipse">
            <a:avLst/>
          </a:prstGeom>
          <a:solidFill>
            <a:srgbClr val="008751">
              <a:alpha val="30000"/>
            </a:srgbClr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828800"/>
            <a:ext cx="3657600" cy="3657600"/>
          </a:xfrm>
          <a:prstGeom prst="ellipse">
            <a:avLst/>
          </a:prstGeom>
          <a:solidFill>
            <a:srgbClr val="FFD700">
              <a:alpha val="2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133088" cy="1325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64008" cy="1325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Selected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 &amp; recall on Nigeria’s 34-year panel; outperforms Logistic, Probit, and KNN EWS benchmarks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207008"/>
            <a:ext cx="4133088" cy="1325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1207008"/>
            <a:ext cx="64008" cy="1325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reserve depletion, parallel premium &amp; oil price are top-3 drivers — directly actionable by CBN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4133088" cy="1325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88336"/>
            <a:ext cx="64008" cy="1325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797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Colab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 provided; re-runnable with updated CBN/IMF data each year for live EWS 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688336"/>
            <a:ext cx="4133088" cy="1325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2688336"/>
            <a:ext cx="64008" cy="1325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7797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14553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crisis probability with ≥0.55 alert threshold for CBN FX reserve review activation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663440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Crisis Early Warning Model  ·  Nigerian Economy  ·  Random Forest  ·  1990–2023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Crisis Early Warning Model — Nigeria</dc:title>
  <dc:subject>PptxGenJS Presentation</dc:subject>
  <dc:creator>PptxGenJS</dc:creator>
  <cp:lastModifiedBy>PptxGenJS</cp:lastModifiedBy>
  <cp:revision>1</cp:revision>
  <dcterms:created xsi:type="dcterms:W3CDTF">2026-05-14T20:36:38Z</dcterms:created>
  <dcterms:modified xsi:type="dcterms:W3CDTF">2026-05-14T20:36:38Z</dcterms:modified>
</cp:coreProperties>
</file>